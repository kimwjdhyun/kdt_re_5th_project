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dongKaturiOTF"/>
      <p:regular r:id="rId18"/>
    </p:embeddedFont>
    <p:embeddedFont>
      <p:font typeface="UhBee Gmin2"/>
      <p:regular r:id="rId19"/>
    </p:embeddedFont>
    <p:embeddedFont>
      <p:font typeface="Pretendard Medium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26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14.png" Type="http://schemas.openxmlformats.org/officeDocument/2006/relationships/image"/><Relationship Id="rId8" Target="../media/image13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26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2" Target="../media/image26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46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26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35.png" Type="http://schemas.openxmlformats.org/officeDocument/2006/relationships/image"/><Relationship Id="rId8" Target="../media/image47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53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54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8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22300" y="7327900"/>
            <a:ext cx="19316700" cy="322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1879600"/>
            <a:ext cx="15671800" cy="7708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95400" y="2489200"/>
            <a:ext cx="15671800" cy="688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5400" y="1587500"/>
            <a:ext cx="15671800" cy="965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41300" y="3924300"/>
            <a:ext cx="2082800" cy="129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97300" y="2362200"/>
            <a:ext cx="19812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85100" y="190500"/>
            <a:ext cx="2984500" cy="298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26500" y="1041400"/>
            <a:ext cx="8509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366000" y="850900"/>
            <a:ext cx="10287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261600" y="1422400"/>
            <a:ext cx="1028700" cy="660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52500" y="508000"/>
            <a:ext cx="18288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43100" y="508000"/>
            <a:ext cx="29718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44500" y="8521700"/>
            <a:ext cx="635000" cy="368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856200" y="7899400"/>
            <a:ext cx="6350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3300" y="2070100"/>
            <a:ext cx="17881600" cy="75692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943100" y="7708900"/>
            <a:ext cx="143637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강원도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RE100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그린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뉴딜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정책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기반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신재생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에너지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산업</a:t>
            </a:r>
            <a:r>
              <a:rPr lang="en-US" sz="35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35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05000" y="7366000"/>
            <a:ext cx="144526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00" y="3073400"/>
            <a:ext cx="5295900" cy="317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41400" y="3073400"/>
            <a:ext cx="5295900" cy="104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78600" y="3073400"/>
            <a:ext cx="5295900" cy="317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15800" y="3073400"/>
            <a:ext cx="5295900" cy="3175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20800" y="33655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프로젝트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개요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736600"/>
            <a:ext cx="3175000" cy="3340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333500" y="43815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프로젝트명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부제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팀원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구성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프로젝트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배경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필요성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78600" y="3073400"/>
            <a:ext cx="5295900" cy="1041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858000" y="33655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목표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0700" y="43815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외부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요인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영향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관점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경쟁력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도출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15800" y="3073400"/>
            <a:ext cx="52959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395200" y="33655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구성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7900" y="43815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00" y="6502400"/>
            <a:ext cx="5295900" cy="317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41400" y="6502400"/>
            <a:ext cx="5295900" cy="1041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578600" y="6502400"/>
            <a:ext cx="5295900" cy="317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15800" y="6502400"/>
            <a:ext cx="5295900" cy="3175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20800" y="68072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수집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방법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500" y="78232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공공데이터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포털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활용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·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지자체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웹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크롤링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방법론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78600" y="6502400"/>
            <a:ext cx="5295900" cy="1041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6858000" y="68072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기술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스택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70700" y="78232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프로그래밍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언어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처리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라이브러리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도구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15800" y="6502400"/>
            <a:ext cx="5295900" cy="10414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2395200" y="68072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프로젝트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일정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07900" y="7823200"/>
            <a:ext cx="476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주제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선정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계획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수립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전처리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763500" y="914400"/>
            <a:ext cx="4787900" cy="47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54200" y="1778000"/>
            <a:ext cx="1333500" cy="711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260000">
            <a:off x="16090900" y="1181100"/>
            <a:ext cx="17780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5156200"/>
            <a:ext cx="16370300" cy="467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9000" y="3124200"/>
            <a:ext cx="16370300" cy="656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134100" y="6362700"/>
            <a:ext cx="5867400" cy="8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95400" y="3467100"/>
            <a:ext cx="7429500" cy="3416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81000" y="863600"/>
            <a:ext cx="5816600" cy="3225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95400" y="7454900"/>
            <a:ext cx="74930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강원도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신재생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에너지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발전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현황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" y="8153400"/>
            <a:ext cx="74930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프로젝트는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향후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가능성을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기반으로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분석하는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것을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목표로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합니다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26600" y="3784600"/>
            <a:ext cx="72898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강원도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RE100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그린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뉴딜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정책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기반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6600" y="4483100"/>
            <a:ext cx="7289800" cy="363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한국판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뉴딜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(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스마트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그린도시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사업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)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중심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최적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입지로서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가지는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경쟁력을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정량적으로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검증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프로젝트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팀원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천예리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김정현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인사이트를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전략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지원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0" y="8877300"/>
            <a:ext cx="18783300" cy="1765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863600"/>
            <a:ext cx="4394200" cy="322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64300" y="2971800"/>
            <a:ext cx="5295900" cy="351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64300" y="2971800"/>
            <a:ext cx="5295900" cy="1041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7437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외부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요인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영향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6400" y="4279900"/>
            <a:ext cx="47625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요인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(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일사량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풍속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)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상관관계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지리적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특성에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따른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효율성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차이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지원에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따른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추적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계절별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변동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패턴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2971800"/>
            <a:ext cx="5295900" cy="317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88800" y="2971800"/>
            <a:ext cx="5295900" cy="1041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22682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RE100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산업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경쟁력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도출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09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유치를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위한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입지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조건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자립도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안정성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평가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잠재력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측정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경제적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경쟁력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투자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6337300"/>
            <a:ext cx="5295900" cy="317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6337300"/>
            <a:ext cx="5295900" cy="1041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2682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신재생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에너지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발전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전망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809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기후변화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시나리오별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예측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시설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확충에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따른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기술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따른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효율성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향상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예측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변화에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따른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시뮬레이션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2971800"/>
            <a:ext cx="5295900" cy="3175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2500" y="2971800"/>
            <a:ext cx="5295900" cy="1041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319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발전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현황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정량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46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에너지원별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비중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파악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대비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비교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효율성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경제성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평가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6337300"/>
            <a:ext cx="5295900" cy="317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6337300"/>
            <a:ext cx="5295900" cy="1041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44100" y="7670800"/>
            <a:ext cx="1752600" cy="1879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21600" y="6985000"/>
            <a:ext cx="2565400" cy="2501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91300" y="7759700"/>
            <a:ext cx="1625600" cy="175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69500" y="6489700"/>
            <a:ext cx="1041400" cy="10541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2319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그린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뉴딜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정책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효과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6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- 2025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년까지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추진된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뉴딜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사업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성과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스마트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그린도시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사업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집행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효율성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비교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경제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일자리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창출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0" y="8877300"/>
            <a:ext cx="18783300" cy="17653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5400" y="3124200"/>
            <a:ext cx="4648200" cy="535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320000">
            <a:off x="1866900" y="4191000"/>
            <a:ext cx="3302000" cy="347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5400" y="3124200"/>
            <a:ext cx="4648200" cy="535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440000">
            <a:off x="736600" y="6350000"/>
            <a:ext cx="1295400" cy="210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863600"/>
            <a:ext cx="5499100" cy="322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2971800"/>
            <a:ext cx="5295900" cy="317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40500" y="2971800"/>
            <a:ext cx="52959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8199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신재생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에너지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발전량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326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연도별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에너지원별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(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태양광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풍력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)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시군별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시설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용량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월별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/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계절별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변동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추이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88800" y="2971800"/>
            <a:ext cx="5295900" cy="317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88800" y="2971800"/>
            <a:ext cx="5295900" cy="1041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2682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기상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809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일사량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풍속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풍향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강수량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수자원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조건과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연계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6337300"/>
            <a:ext cx="5295900" cy="317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40500" y="6337300"/>
            <a:ext cx="5295900" cy="1041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8199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정책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자료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예산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26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스마트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그린도시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사업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관련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집행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내역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관련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보조금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88800" y="6337300"/>
            <a:ext cx="5295900" cy="3175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88800" y="6337300"/>
            <a:ext cx="5295900" cy="10414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22682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비교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분석용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809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시도별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국내외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벤치마크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유사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환경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사례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42700" y="1092200"/>
            <a:ext cx="4267200" cy="4394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90500" y="2362200"/>
            <a:ext cx="12446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3733800"/>
            <a:ext cx="16370300" cy="609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3479800"/>
            <a:ext cx="16370300" cy="621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683000" y="6540500"/>
            <a:ext cx="5245100" cy="8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519400" y="1549400"/>
            <a:ext cx="1244600" cy="78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21100" y="8851900"/>
            <a:ext cx="1663700" cy="166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81000" y="1219200"/>
            <a:ext cx="7213600" cy="322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5100" y="3962400"/>
            <a:ext cx="4419600" cy="5245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718300" y="4368800"/>
            <a:ext cx="49276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공공데이터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자료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활용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8300" y="5080000"/>
            <a:ext cx="4914900" cy="405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공공데이터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포털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(data.go.kr)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관련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데이터셋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활용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한국에너지공단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신재생에너지센터의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18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지자체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기상청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기상자료개방포털의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활용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한국판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뉴딜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집행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보고서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9100" y="4368800"/>
            <a:ext cx="49276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웹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크롤링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보완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9100" y="5080000"/>
            <a:ext cx="4914900" cy="323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Python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Selenium, BeautifulSoup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라이브러리를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활용한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웹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크롤링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비정형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위한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자동화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스크립트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정합성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검증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결측치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처리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방법론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전처리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정규화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과정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다양한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출처의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통합을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위한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표준화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작업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0" y="8877300"/>
            <a:ext cx="18783300" cy="1765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863600"/>
            <a:ext cx="4546600" cy="322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64300" y="2971800"/>
            <a:ext cx="5295900" cy="317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64300" y="2971800"/>
            <a:ext cx="5295900" cy="1041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7437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Data 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64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Pandas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NumPy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대용량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처리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제공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88800" y="2971800"/>
            <a:ext cx="5295900" cy="317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2971800"/>
            <a:ext cx="5295900" cy="1041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22682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Visualization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09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Matplotlib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Seaborn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다양한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차트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그래프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도구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88800" y="6337300"/>
            <a:ext cx="5295900" cy="317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6337300"/>
            <a:ext cx="5295900" cy="1041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2682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Web Crawling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809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Selenium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BeautifulSoup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웹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자동화된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추출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2971800"/>
            <a:ext cx="5295900" cy="3175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2971800"/>
            <a:ext cx="5295900" cy="1041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319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Language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46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Python 3.14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처리를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위한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프로그래밍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언어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다양한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라이브러리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지원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6337300"/>
            <a:ext cx="5295900" cy="317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6337300"/>
            <a:ext cx="5295900" cy="1041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44100" y="7670800"/>
            <a:ext cx="1752600" cy="1879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21600" y="6985000"/>
            <a:ext cx="2565400" cy="2501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91300" y="7759700"/>
            <a:ext cx="1625600" cy="175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69500" y="6489700"/>
            <a:ext cx="1041400" cy="10541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2319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Map Visualization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6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Folium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지리적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표현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0" y="8877300"/>
            <a:ext cx="18783300" cy="17653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5400" y="3124200"/>
            <a:ext cx="4648200" cy="535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320000">
            <a:off x="1866900" y="4191000"/>
            <a:ext cx="3302000" cy="347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5400" y="3124200"/>
            <a:ext cx="4648200" cy="535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440000">
            <a:off x="736600" y="6350000"/>
            <a:ext cx="1295400" cy="210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863600"/>
            <a:ext cx="5524500" cy="322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2971800"/>
            <a:ext cx="5295900" cy="317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40500" y="2971800"/>
            <a:ext cx="52959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8199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data/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326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raw/: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원본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저장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processed/: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전처리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등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88800" y="2971800"/>
            <a:ext cx="5295900" cy="317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88800" y="2971800"/>
            <a:ext cx="5295900" cy="1041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2682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notebooks/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809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노트북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단계별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과정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포함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재현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코드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540500" y="6337300"/>
            <a:ext cx="5295900" cy="317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40500" y="6337300"/>
            <a:ext cx="5295900" cy="1041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8199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src/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26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코드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모듈화된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함수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전처리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파이프라인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재사용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유틸리티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88800" y="6337300"/>
            <a:ext cx="5295900" cy="3175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88800" y="6337300"/>
            <a:ext cx="5295900" cy="10414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22682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outputs/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809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그래프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결과물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보고서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42700" y="1092200"/>
            <a:ext cx="4267200" cy="4394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90500" y="2362200"/>
            <a:ext cx="12446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3733800"/>
            <a:ext cx="16370300" cy="609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3479800"/>
            <a:ext cx="16370300" cy="621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515100" y="6540500"/>
            <a:ext cx="5245100" cy="8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519400" y="1549400"/>
            <a:ext cx="1244600" cy="78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21100" y="8851900"/>
            <a:ext cx="1663700" cy="166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65300" y="3962400"/>
            <a:ext cx="6286500" cy="262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81000" y="1219200"/>
            <a:ext cx="10845800" cy="3225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27200" y="7315200"/>
            <a:ext cx="63754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Conventional Commit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규칙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7200" y="8026400"/>
            <a:ext cx="63754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일관된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커밋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메시지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작성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규칙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프로젝트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히스토리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용이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자동화된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로그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생성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74300" y="3962400"/>
            <a:ext cx="6286500" cy="2628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686800" y="6121400"/>
            <a:ext cx="927100" cy="927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96300" y="5918200"/>
            <a:ext cx="1333500" cy="1333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248900" y="7315200"/>
            <a:ext cx="63754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커밋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메시지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형식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8900" y="8026400"/>
            <a:ext cx="63754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type: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내용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요약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feat: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시계열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추가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fix: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연도별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집계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오류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0" y="8877300"/>
            <a:ext cx="18783300" cy="1765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604000" y="2971800"/>
            <a:ext cx="5080000" cy="6553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863600"/>
            <a:ext cx="8280400" cy="3225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2971800"/>
            <a:ext cx="5295900" cy="317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2971800"/>
            <a:ext cx="5295900" cy="1041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954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feat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81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새로운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추가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시계열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2971800"/>
            <a:ext cx="5295900" cy="317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2971800"/>
            <a:ext cx="52959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268200" y="32639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fix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80900" y="42799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버그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연도별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집계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오류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병합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과정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오류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레이블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오류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" y="6337300"/>
            <a:ext cx="5295900" cy="317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6337300"/>
            <a:ext cx="5295900" cy="1041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2954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docs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81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문서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README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업데이트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보고서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작성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주석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추가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개선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6337300"/>
            <a:ext cx="5295900" cy="317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6337300"/>
            <a:ext cx="5295900" cy="104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54800" y="3009900"/>
            <a:ext cx="4978400" cy="6464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268200" y="6642100"/>
            <a:ext cx="4737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style/refactor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0900" y="7658100"/>
            <a:ext cx="47625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style: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코드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스타일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들여쓰기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수정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refactor: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코드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리팩토링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성능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개선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구조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변경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9800" y="2997200"/>
            <a:ext cx="3111500" cy="6692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2895600"/>
            <a:ext cx="3111500" cy="6680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0900" y="2895600"/>
            <a:ext cx="3111500" cy="104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279900" y="2997200"/>
            <a:ext cx="3111500" cy="6692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91000" y="2895600"/>
            <a:ext cx="3111500" cy="668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91000" y="2895600"/>
            <a:ext cx="3111500" cy="1041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0" y="2997200"/>
            <a:ext cx="3111500" cy="6692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531100" y="2895600"/>
            <a:ext cx="3111500" cy="6680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31100" y="2895600"/>
            <a:ext cx="3111500" cy="1041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60100" y="2997200"/>
            <a:ext cx="3111500" cy="669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858500" y="2895600"/>
            <a:ext cx="3111500" cy="668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58500" y="2895600"/>
            <a:ext cx="31115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300200" y="2997200"/>
            <a:ext cx="3111500" cy="6692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98600" y="2895600"/>
            <a:ext cx="3111500" cy="6680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98600" y="2895600"/>
            <a:ext cx="3111500" cy="1041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84600" y="5918200"/>
            <a:ext cx="635000" cy="63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38600" y="6083300"/>
            <a:ext cx="177800" cy="3175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73900" y="5918200"/>
            <a:ext cx="635000" cy="635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27900" y="6083300"/>
            <a:ext cx="177800" cy="317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90800" y="4495800"/>
            <a:ext cx="1028700" cy="1028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260000">
            <a:off x="1854200" y="4406900"/>
            <a:ext cx="1181100" cy="1181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219700" y="4381500"/>
            <a:ext cx="1143000" cy="1143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87200" y="4432300"/>
            <a:ext cx="1155700" cy="1155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636000" y="4495800"/>
            <a:ext cx="977900" cy="9652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388600" y="5918200"/>
            <a:ext cx="635000" cy="635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42600" y="6083300"/>
            <a:ext cx="177800" cy="3175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04900" y="5918200"/>
            <a:ext cx="635000" cy="635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58900" y="6083300"/>
            <a:ext cx="177800" cy="3175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066800" y="3200400"/>
            <a:ext cx="26924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1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단계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08000" y="863600"/>
            <a:ext cx="5727700" cy="32258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143000" y="5930900"/>
            <a:ext cx="25908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2025.12.15 ~ 12.17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주제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선정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프로젝트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계획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수립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팀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역할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분담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목표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설정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필요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정의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기술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스택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결정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394200" y="3200400"/>
            <a:ext cx="26924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2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단계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34300" y="3200400"/>
            <a:ext cx="26924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3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단계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74400" y="3200400"/>
            <a:ext cx="26924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4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단계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14500" y="3200400"/>
            <a:ext cx="26924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최종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70400" y="5930900"/>
            <a:ext cx="25908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2025.12.17 ~ 12.24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수집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공공데이터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포털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활용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웹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크롤링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수행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전처리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결측치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처리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정규화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10500" y="5930900"/>
            <a:ext cx="2590800" cy="372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2025.12.24 ~ 2026.01.07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구현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관점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그린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뉴딜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효과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50600" y="5930900"/>
            <a:ext cx="25908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2026.01.07 ~ 01.12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검증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정리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완성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보고서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작성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발표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준비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최종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리뷰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90700" y="5930900"/>
            <a:ext cx="25908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2026.01.13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최종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발표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프로젝트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성과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공유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결과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발표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인사이트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제시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향후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연구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방향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제안</a:t>
            </a:r>
          </a:p>
          <a:p>
            <a:pPr algn="l" lvl="0">
              <a:lnSpc>
                <a:spcPct val="122009"/>
              </a:lnSpc>
            </a:pP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피드백</a:t>
            </a:r>
            <a:r>
              <a:rPr lang="en-US" sz="20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231F20"/>
                </a:solidFill>
                <a:ea typeface="Pretendard Medium"/>
              </a:rPr>
              <a:t>수렴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D4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42700" y="1092200"/>
            <a:ext cx="4267200" cy="4394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90500" y="2362200"/>
            <a:ext cx="12446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1600" y="-76200"/>
            <a:ext cx="186436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850900"/>
            <a:ext cx="22758400" cy="127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52500" y="241300"/>
            <a:ext cx="1828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3100" y="241300"/>
            <a:ext cx="2971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231F20"/>
                </a:solidFill>
                <a:latin typeface="AndongKaturiOTF"/>
              </a:rPr>
              <a:t>Environment Campaign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8700" y="3733800"/>
            <a:ext cx="16370300" cy="609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9000" y="3479800"/>
            <a:ext cx="16370300" cy="621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683000" y="6540500"/>
            <a:ext cx="5245100" cy="8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519400" y="1549400"/>
            <a:ext cx="1244600" cy="78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21100" y="8851900"/>
            <a:ext cx="1663700" cy="1663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81000" y="1219200"/>
            <a:ext cx="4889500" cy="322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5100" y="3962400"/>
            <a:ext cx="4419600" cy="5245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718300" y="4368800"/>
            <a:ext cx="49276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데이터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기반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인사이트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8300" y="5080000"/>
            <a:ext cx="4914900" cy="445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신재생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성장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가능성에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객관적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제공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지역별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,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에너지원별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현황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파악을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효율적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배분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방안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도출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·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지리적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요인과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간의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상관관계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분석으로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최적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입지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선정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기준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마련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강원도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정책의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실효성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검증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개선점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도출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9100" y="4368800"/>
            <a:ext cx="49276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역량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강화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및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정책</a:t>
            </a:r>
            <a:r>
              <a:rPr lang="en-US" sz="2400" b="false" i="false" u="none" strike="noStrike">
                <a:solidFill>
                  <a:srgbClr val="231F20"/>
                </a:solidFill>
                <a:latin typeface="UhBee Gmin2"/>
              </a:rPr>
              <a:t> </a:t>
            </a:r>
            <a:r>
              <a:rPr lang="ko-KR" sz="2400" b="false" i="false" u="none" strike="noStrike">
                <a:solidFill>
                  <a:srgbClr val="231F20"/>
                </a:solidFill>
                <a:ea typeface="UhBee Gmin2"/>
              </a:rPr>
              <a:t>지원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9100" y="5080000"/>
            <a:ext cx="4914900" cy="363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RE100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유치를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위한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·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산업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전략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수립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참고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자료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확보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그린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뉴딜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정책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효과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통한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지속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가능한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발전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방향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제시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시각화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역량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강화</a:t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/>
            </a:r>
          </a:p>
          <a:p>
            <a:pPr algn="l" lvl="0">
              <a:lnSpc>
                <a:spcPct val="122009"/>
              </a:lnSpc>
            </a:pP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-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공공데이터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활용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및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분석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방법론</a:t>
            </a:r>
            <a:r>
              <a:rPr lang="en-US" sz="2200" b="false" i="false" u="none" strike="noStrike">
                <a:solidFill>
                  <a:srgbClr val="231F2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231F20"/>
                </a:solidFill>
                <a:ea typeface="Pretendard Medium"/>
              </a:rPr>
              <a:t>개발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